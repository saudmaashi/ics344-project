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4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5" Type="http://schemas.openxmlformats.org/officeDocument/2006/relationships/image" Target="../media/image33.png"/><Relationship Id="rId6" Type="http://schemas.openxmlformats.org/officeDocument/2006/relationships/image" Target="../media/image12.png"/><Relationship Id="rId7" Type="http://schemas.openxmlformats.org/officeDocument/2006/relationships/image" Target="../media/image28.png"/><Relationship Id="rId8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40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41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6187" y="4891980"/>
            <a:ext cx="4619625" cy="11296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83641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ICS344: SECURITY COURSE PROJECT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284089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DVSA </a:t>
            </a:r>
            <a:r>
              <a:rPr b="1" i="0" lang="en-US" sz="5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Vulnerability</a:t>
            </a:r>
            <a:r>
              <a:rPr b="1" i="0" lang="en-US" sz="52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Investigation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358913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comprehensive analysis covering all 10 security flaws in the AWS-based Damn Vulnerable Serverless Application.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786187" y="5187255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30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786187" y="5634930"/>
            <a:ext cx="4619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Saud Maashi | Faisal AlSulami | Husam Maslmani | Naif AlFareed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2515641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160508" y="2849016"/>
            <a:ext cx="7870983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10 </a:t>
            </a:r>
            <a:r>
              <a:rPr b="1" i="0" lang="en-US" sz="45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Serverless</a:t>
            </a: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Lessons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286000" y="389676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structured breakdown of API Gateway, Lambda, DynamoDB, and S3 vulnerabilities—from root cause to remediation.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55506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1 &amp; 9: Event Injection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40408"/>
            <a:ext cx="52863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173783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backend processed untrusted data using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unsafe deserialization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combined with a vulnerable dependency (`node-serialize`).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270944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Exploit: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sent a crafted JavaScript payload through the API Gateway. The system treated our input as code, granting us execution to read internal lambda files.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10980"/>
            <a:ext cx="52863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84435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Replaced the unsafe deserialization commands with strict, safe data parsing (`JSON.parse()`), ensuring event headers and bodies remain plain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109662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109662"/>
            <a:ext cx="16954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4430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application used JWT tokens to identify users, but entirely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failed to verify the cryptographic signature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these tokens.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25955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Exploit: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86412"/>
            <a:ext cx="762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9197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Enforced strict JWT signature verification against AWS Cognito keys before processing any user identity claims.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04850" y="30432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09625" y="304323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intercepted a valid JWT token.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04850" y="349091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09625" y="34909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Modified the internal payload (identity) to match a victim.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850" y="424338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424338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Sent it to the server. The server trusted the fake ID without checking its authenticity, exposing the victim's order history.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119187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85737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2: Broken Authentication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2637"/>
            <a:ext cx="5286375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52637"/>
            <a:ext cx="5286375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443162"/>
            <a:ext cx="4505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62025" y="277653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administrative API incorrectly utilized an unsafe `eval()` function on user-supplied inputs.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3529012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bypassed standard access controls and executed arbitrary code. This allowed us to invoke an internal function that generated and exposed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signed S3 download links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private receipts.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586037"/>
            <a:ext cx="4505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724650" y="291941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solution required stripping the arbitrary code execution capabilities entirely from the administrative workflow.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24650" y="397668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safely parsed incoming requests and enforced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authorization constraints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 the receipt-generation functionality to prevent unauthorized linkage.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3: Info Disclosure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571500"/>
            <a:ext cx="5550693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4: Insecure Cloud Config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38350"/>
            <a:ext cx="52863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23717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AWS S3 storage bucket (dvsa-receipts-bucket) was configured with permissive ACLs, exposing a dangerous public write path.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346888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Exploit: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successfully uploaded attacker-controlled `.raw` files into the trusted date-based receipt paths. The downstream Lambda blindly trusted and processed these files.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13721"/>
            <a:ext cx="528637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347096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hardened the bucket by turning on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"Block Public Access"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removing the overly broad ACL exposures to enforce strict application-only writes.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90700"/>
            <a:ext cx="3429000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790700"/>
            <a:ext cx="3429000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790700"/>
            <a:ext cx="3429000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66775" y="2838450"/>
            <a:ext cx="274034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Missing Guardrails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66775" y="3419475"/>
            <a:ext cx="28384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backend application exposed an "update order" function that lacked proper role-based access control (RBAC). It trusted any logged-in user without verifying administrative privileges.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676775" y="2838450"/>
            <a:ext cx="159019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Exploit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676775" y="3419475"/>
            <a:ext cx="28384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Operating as a normal, unprivileged user, we accessed this admin-only function and manually changed our own order status from "unpaid" to "paid" without completing the billing process.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8486775" y="2838450"/>
            <a:ext cx="101012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Fix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486775" y="34194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Implemented strict role validation to ensure only users with confirmed administrative JWT claims can trigger sensitive system state updates.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1336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1336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5" y="2133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5: Broken Access Control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17621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API Gateway lacked rate limiting. Sending massive concurrent requests completely overwhelmed the backend Lambda functions, causing a severe drop in availability.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123950" y="5267325"/>
            <a:ext cx="994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Fix: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enabled API Gateway Throttling (Rate: 10 req/s, Burst: 20). The system now proactively blocks abusive traffic before it can exhaust backend resources.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6: Denial of Service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12" y="2224087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47837"/>
            <a:ext cx="16954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6334125" y="208121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receipt-email function was given excessive database permissions (like full table scans) and accidentally logged its own temporary AWS STS credentials into CloudWatch logs.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334125" y="34432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 attacker reading the logs could steal those keys and use them to scan the entire company database, expanding the blast radius massively.</a:t>
            </a:r>
            <a:endParaRPr/>
          </a:p>
        </p:txBody>
      </p:sp>
      <p:pic>
        <p:nvPicPr>
          <p:cNvPr descr="image.png" id="192" name="Google Shape;1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643437"/>
            <a:ext cx="76200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6334125" y="49768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Removed the secret key logging and applied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Principle of Least Privilege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the IAM policy, removing unnecessary DynamoDB Scan/Query actions.</a:t>
            </a:r>
            <a:endParaRPr/>
          </a:p>
        </p:txBody>
      </p:sp>
      <p:pic>
        <p:nvPicPr>
          <p:cNvPr descr="image.png" id="194" name="Google Shape;19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5912" y="2262187"/>
            <a:ext cx="325755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7: Over-privileged Func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5286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24075"/>
            <a:ext cx="5286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514600"/>
            <a:ext cx="4505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962025" y="2847975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system failed to lock an order once the payment process started, creating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race condition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962025" y="39052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sent a "pay" request for 1 item and instantly fired an "update cart" request for 10 items. The overlapping timing confused the server, charging us for 1 item but delivering 10.</a:t>
            </a:r>
            <a:endParaRPr/>
          </a:p>
        </p:txBody>
      </p:sp>
      <p:pic>
        <p:nvPicPr>
          <p:cNvPr descr="image.png" id="206" name="Google Shape;20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657475"/>
            <a:ext cx="4505325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6724650" y="29908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implemented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conditional updates and early locking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using DynamoDB.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24650" y="37433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order status shifts to 200 ("processing") the exact moment payment begins. Subsequent update requests (which require status 100) are instantly rejected.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8: Logic Vulnerability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3100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43100"/>
            <a:ext cx="34290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943100"/>
            <a:ext cx="342900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866775" y="2990850"/>
            <a:ext cx="131016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Flaw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866775" y="3571875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When bad data caused the system to crash, backend exceptions were returned directly to the client instead of being handled gracefully.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676775" y="2990850"/>
            <a:ext cx="159019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Exploit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4676775" y="35718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intentionally sending malformed data (like `bad\r\nhost:evil`), we forced errors that exposed raw stack traces, code snippets, and internal `/var/task/` file paths.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486775" y="2990850"/>
            <a:ext cx="1010126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Fix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486775" y="357187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Caught errors globally. We logged the deep technical details internally in CloudWatch, but returned only safe, generic JSON error messages to the end user.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86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76775" y="22860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86775" y="22860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Lesson 10: Unhandled Exceptions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2286000" y="219551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Defense in Depth: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Security cannot exist in code alone. You must secure the entire serverless pipeline: API Gateway limits, IAM role permissions, and S3 storage settings.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2286000" y="304323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Principle of Least Privilege: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Never give a Lambda function more access than it strictly requires. If breached, a function's IAM permissions define the attack's blast radius.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2286000" y="3890962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Never Trust User Input: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Whether it's a JWT identity claim, an uploaded file name, or a checkout race condition—validate everything strictly on the server side.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2286000" y="4738687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Fail Securely: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Applications will inevitably encounter errors. Ensure that crashes fail closed and never leak internal blueprints or stack traces to the public.</a:t>
            </a:r>
            <a:endParaRPr/>
          </a:p>
        </p:txBody>
      </p:sp>
      <p:pic>
        <p:nvPicPr>
          <p:cNvPr descr="image.png" id="237" name="Google Shape;2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2098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575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90525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75297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Security Takeaways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295275" y="225935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571500" y="3592859"/>
            <a:ext cx="110490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437004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KFUPM | ICS344 Information Security | Team 30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/>
          <p:nvPr/>
        </p:nvSpPr>
        <p:spPr>
          <a:xfrm>
            <a:off x="1095375" y="2326183"/>
            <a:ext cx="100012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1095375" y="3110954"/>
            <a:ext cx="100012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1095375" y="3895725"/>
            <a:ext cx="100012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1095375" y="3101429"/>
            <a:ext cx="10001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1095375" y="3101429"/>
            <a:ext cx="10001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1095375" y="3886200"/>
            <a:ext cx="10001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1095375" y="3886200"/>
            <a:ext cx="10001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1095375" y="4670970"/>
            <a:ext cx="10001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1095375" y="4670970"/>
            <a:ext cx="10001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375" y="24756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2190750" y="2469058"/>
            <a:ext cx="8905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https://image-optimizer.cyberriskalliance.com/unsafe/1920x0/https://files.cyberriskalliance.com/wp-content/uploads/2024/02/020924_cyberattack.jpg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2190750" y="2714773"/>
            <a:ext cx="8905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www.scworld.com</a:t>
            </a:r>
            <a:endParaRPr/>
          </a:p>
        </p:txBody>
      </p:sp>
      <p:pic>
        <p:nvPicPr>
          <p:cNvPr descr="image.png" id="267" name="Google Shape;26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375" y="32603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2190750" y="3253829"/>
            <a:ext cx="8905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https://www.fortinet.com/content/dam/fortinet/images/cyberglossary/authentication-vs-authorization-one-.jpg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2190750" y="3499544"/>
            <a:ext cx="8905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www.fortinet.com</a:t>
            </a:r>
            <a:endParaRPr/>
          </a:p>
        </p:txBody>
      </p:sp>
      <p:pic>
        <p:nvPicPr>
          <p:cNvPr descr="image.png" id="270" name="Google Shape;27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375" y="40451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2190750" y="4038600"/>
            <a:ext cx="8905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https://www.1cloudhub.com/wp-content/uploads/2023/06/Picture1.png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2190750" y="4284315"/>
            <a:ext cx="8905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www.1cloudhub.com</a:t>
            </a:r>
            <a:endParaRPr/>
          </a:p>
        </p:txBody>
      </p:sp>
      <p:pic>
        <p:nvPicPr>
          <p:cNvPr descr="image.png" id="273" name="Google Shape;27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5375" y="48299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2190750" y="4823370"/>
            <a:ext cx="89058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https://cruciallogics.com/wp-content/uploads/2025/04/Privileged-Identity-Management-How-to-Enforce-it-With-Microsoft-Entra-2-scaled.jpg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2190750" y="5069085"/>
            <a:ext cx="8905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cruciallogics.com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